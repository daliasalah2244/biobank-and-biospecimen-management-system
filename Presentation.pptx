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228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657225"/>
            <a:ext cx="78581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DATABASES · BIOTECHNOLOGY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2938" y="1271588"/>
            <a:ext cx="5857875" cy="153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1600"/>
              </a:lnSpc>
              <a:buNone/>
            </a:pPr>
            <a:r>
              <a:rPr lang="en-US" sz="3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 and Biospecimen Management System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2938" y="2490857"/>
            <a:ext cx="5500688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MySQL database for donor consent, biospecimen traceability, aliquot storage, and research requests.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2938" y="3604021"/>
            <a:ext cx="7858125" cy="500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44000"/>
              </a:lnSpc>
            </a:pPr>
            <a:r>
              <a:rPr lang="en-US" sz="1200" dirty="0">
                <a:solidFill>
                  <a:srgbClr val="16324F"/>
                </a:solidFill>
                <a:latin typeface="Arial" pitchFamily="34" charset="0"/>
                <a:cs typeface="Arial" pitchFamily="34" charset="-120"/>
              </a:rPr>
              <a:t>Student name: Dalia salah </a:t>
            </a:r>
            <a:r>
              <a:rPr lang="en-US" sz="1200" dirty="0" err="1">
                <a:solidFill>
                  <a:srgbClr val="16324F"/>
                </a:solidFill>
                <a:latin typeface="Arial" pitchFamily="34" charset="0"/>
                <a:cs typeface="Arial" pitchFamily="34" charset="-120"/>
              </a:rPr>
              <a:t>othman</a:t>
            </a:r>
            <a:br>
              <a:rPr lang="en-US" sz="1200" dirty="0">
                <a:solidFill>
                  <a:srgbClr val="16324F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dirty="0">
                <a:solidFill>
                  <a:srgbClr val="16324F"/>
                </a:solidFill>
                <a:latin typeface="Arial" pitchFamily="34" charset="0"/>
                <a:cs typeface="Arial" pitchFamily="34" charset="-120"/>
              </a:rPr>
              <a:t>Student ID: 221091944</a:t>
            </a:r>
          </a:p>
        </p:txBody>
      </p:sp>
      <p:sp>
        <p:nvSpPr>
          <p:cNvPr id="7" name="Text 4"/>
          <p:cNvSpPr/>
          <p:nvPr/>
        </p:nvSpPr>
        <p:spPr>
          <a:xfrm>
            <a:off x="8189361" y="492919"/>
            <a:ext cx="53675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36706" y="3907631"/>
            <a:ext cx="821531" cy="821531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E9C4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6706" y="3907631"/>
            <a:ext cx="821531" cy="821531"/>
          </a:xfrm>
          <a:prstGeom prst="rect">
            <a:avLst/>
          </a:prstGeom>
          <a:noFill/>
          <a:ln/>
        </p:spPr>
        <p:txBody>
          <a:bodyPr wrap="none" lIns="0" tIns="26365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5506994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Biobank Traceability Problem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38381" y="485775"/>
            <a:ext cx="619832" cy="6393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585788" y="1746647"/>
            <a:ext cx="37647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CHALLENGE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5788" y="2010966"/>
            <a:ext cx="3764756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biobank must connect donor identity, consent status, biospecimen collection, aliquot location, and research usage without duplicating facts.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93456" y="1746647"/>
            <a:ext cx="37647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RESPONSE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93456" y="2010966"/>
            <a:ext cx="376475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BiobankDB separates each subject into a normalized entity and preserves the links with foreign keys, an associative request table, views, a trigger, and a stored procedure.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788" y="4739878"/>
            <a:ext cx="513362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CONSENT · SAMPLE TRACEABILITY · STORAGE · RESEARCH REQUESTS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4382858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Business Rules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38381" y="485775"/>
            <a:ext cx="619832" cy="6393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585788" y="1525191"/>
            <a:ext cx="7972425" cy="579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5788" y="1525191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585788" y="1625203"/>
            <a:ext cx="1928813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57488" y="1625203"/>
            <a:ext cx="58007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Donors, consent, sample types, storage locations, biospecimens, aliquots, researchers, test requests, and request–aliquot assignments.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788" y="2240235"/>
            <a:ext cx="7972425" cy="801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5788" y="2240235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585788" y="2340248"/>
            <a:ext cx="1928813" cy="665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57488" y="2340248"/>
            <a:ext cx="5800725" cy="665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emails and sample-type names; controlled ENUM values; required foreign keys; cascading deletion for dependent records; indexes for email, collection date, and aliquot status.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788" y="3177071"/>
            <a:ext cx="7972425" cy="579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85788" y="3177071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585788" y="3277084"/>
            <a:ext cx="1928813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ALIQUOT RULE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57488" y="3277084"/>
            <a:ext cx="5800725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update reduces volume to zero or below, </a:t>
            </a: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trg_check_aliquot_volume</a:t>
            </a:r>
            <a:r>
              <a:rPr lang="en-US" sz="12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normalizes volume to 0 and changes status to </a:t>
            </a: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</a:t>
            </a:r>
            <a:r>
              <a:rPr lang="en-US" sz="12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788" y="4754166"/>
            <a:ext cx="409934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DATABASE-ENFORCED RULES · NO USER INTERFACE REQUIRED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6275003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Entities and One Associative Table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881231" y="485775"/>
            <a:ext cx="619832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0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585788" y="1432322"/>
            <a:ext cx="24812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AND CONSENT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5788" y="1695190"/>
            <a:ext cx="24812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788" y="1935175"/>
            <a:ext cx="24701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donor_id PK, identity fields, blood type,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788" y="2120912"/>
            <a:ext cx="84988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email.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788" y="2406662"/>
            <a:ext cx="24812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788" y="2646648"/>
            <a:ext cx="23589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consent_id PK, donor_id FK, consent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5788" y="2832385"/>
            <a:ext cx="15885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status, signed date.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5788" y="3118135"/>
            <a:ext cx="24812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788" y="3358121"/>
            <a:ext cx="229532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researcher_id PK, institution, unique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5788" y="3543858"/>
            <a:ext cx="85780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phone.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09900" y="1432322"/>
            <a:ext cx="2481281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SPECIMEN AND STORAGE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09900" y="1695190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sample_types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09900" y="1935175"/>
            <a:ext cx="19696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type name, description,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309900" y="2120912"/>
            <a:ext cx="132628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temperature.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09900" y="2406662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storage_locations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09900" y="2646648"/>
            <a:ext cx="20568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Freezer, shelf, box, and capacity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309900" y="2832385"/>
            <a:ext cx="77839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309900" y="3118135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biospecimens / aliquots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309900" y="3358121"/>
            <a:ext cx="21522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records are divided into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309900" y="3543858"/>
            <a:ext cx="9847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portions.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34069" y="1432322"/>
            <a:ext cx="2481281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REQUESTS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4069" y="1695190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test_requests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34069" y="1935175"/>
            <a:ext cx="22239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date, status, purpose, and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034069" y="2120912"/>
            <a:ext cx="94487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FK.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034069" y="2406662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request_aliquots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34069" y="2646648"/>
            <a:ext cx="21125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date and two-column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034069" y="2832385"/>
            <a:ext cx="94230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key.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034069" y="3118135"/>
            <a:ext cx="248128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34069" y="3358121"/>
            <a:ext cx="211008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aliquots and researcher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034069" y="3543858"/>
            <a:ext cx="125456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summaries.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85788" y="4001058"/>
            <a:ext cx="7929563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85788" y="4001058"/>
            <a:ext cx="7929563" cy="35719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7" name="Text 34"/>
          <p:cNvSpPr/>
          <p:nvPr/>
        </p:nvSpPr>
        <p:spPr>
          <a:xfrm>
            <a:off x="585788" y="4093927"/>
            <a:ext cx="250031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request_aliquots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3386138" y="4093927"/>
            <a:ext cx="512921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resolves the </a:t>
            </a: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relationship between test_requests and aliquots. Its composite primary key </a:t>
            </a: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(request_id, aliquot_id)</a:t>
            </a: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the same aliquot from being assigned twice to the same request.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85788" y="4768453"/>
            <a:ext cx="481991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BIOBANKDB · NORMALIZED ENTITIES · TRACEABLE SAMPLE ASSIGNMENTS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8211" y="178594"/>
            <a:ext cx="3214799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and Cardinality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849474" y="450056"/>
            <a:ext cx="651588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50" dirty="0"/>
          </a:p>
        </p:txBody>
      </p:sp>
      <p:sp>
        <p:nvSpPr>
          <p:cNvPr id="6" name="Text 2"/>
          <p:cNvSpPr/>
          <p:nvPr/>
        </p:nvSpPr>
        <p:spPr>
          <a:xfrm>
            <a:off x="5743575" y="1160134"/>
            <a:ext cx="28146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MAP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743575" y="1470887"/>
            <a:ext cx="2814638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and specimen chain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743575" y="1679116"/>
            <a:ext cx="2814638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1:N consents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1:N biospecimens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consent and biospecimen must reference one donor; a donor may have zero or many records.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743575" y="2472072"/>
            <a:ext cx="2814638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and storage chain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43575" y="2680302"/>
            <a:ext cx="2814638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sample_types 1:N biospecimens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</a:t>
            </a: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biospecimens 1:N aliquots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aliquot must identify one specimen and one storage location.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743575" y="3321453"/>
            <a:ext cx="2814638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and aliquots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743575" y="3529682"/>
            <a:ext cx="2814638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test_requests M:N aliquots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resolved by </a:t>
            </a:r>
            <a:r>
              <a:rPr lang="en-US" sz="8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request_aliquots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Its composite key prevents assigning the same aliquot twice to one request.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31B36F-D2E3-3F9B-1EA8-1792A8DCB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6" y="538629"/>
            <a:ext cx="5526741" cy="45977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5589482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 and Constraints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2530" y="485775"/>
            <a:ext cx="63568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1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85788" y="1300163"/>
            <a:ext cx="6643688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DDL maps the ER model into nine tables plus one associative table, with explicit identity, referential integrity, controlled domains, and performance indexes.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788" y="1990204"/>
            <a:ext cx="38076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RELATIONSHIPS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85788" y="2229520"/>
            <a:ext cx="3807619" cy="77710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primary keys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donor_id, consent_id, sample_type_id, location_id, specimen_id, aliquot_id, researcher_id, and request_id identify individual records.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788" y="3120926"/>
            <a:ext cx="3807619" cy="60961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primary key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request_aliquots(request_id, aliquot_id)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a request–aliquot pair from being assigned twice.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5788" y="3844844"/>
            <a:ext cx="3807619" cy="77710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Foreign-key actions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Donor, specimen, and request deletion cascades remove dependent records. Aliquot storage references must point to existing locations.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2019" y="1990204"/>
            <a:ext cx="38076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AND PERFORMANCE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22019" y="2229520"/>
            <a:ext cx="3807619" cy="60068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constraints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donors.email, researchers.email, and sample_types.type_name are UNIQUE and NOT NULL.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22019" y="2944509"/>
            <a:ext cx="3807619" cy="60068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values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ENUM domains constrain gender, blood type, consent status, specimen status, aliquot status, and request status.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22019" y="3659498"/>
            <a:ext cx="3807619" cy="77710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and indexes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created_at and lifecycle statuses have defaults. Indexes support donor email, specimen collection date, and aliquot status.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5788" y="4782741"/>
            <a:ext cx="580837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 · FOREIGN KEYS · UNIQUE VALUES · ENUM DOMAINS · INDEXED SEARCHES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3329211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to 3NF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2530" y="485775"/>
            <a:ext cx="63568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1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85788" y="1293019"/>
            <a:ext cx="6429375" cy="414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BiobankDB separates facts by subject and keeps request–aliquot assignment data at the correct level of dependency.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85788" y="2043671"/>
            <a:ext cx="247173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85788" y="2422289"/>
            <a:ext cx="2471738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Normal 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788" y="2848012"/>
            <a:ext cx="2471738" cy="94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are atomic. Repeated specimen portions are stored as separate rows in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aliquots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while repeated request assignments are rows in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request_aliquots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788" y="3912208"/>
            <a:ext cx="1829027" cy="152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one row = one aliquot assignment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14700" y="2043671"/>
            <a:ext cx="247173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314700" y="2422289"/>
            <a:ext cx="2471738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Normal Form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14700" y="2848012"/>
            <a:ext cx="2471738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request_aliquots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attribute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assigned_date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depends on the complete composite key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(request_id, aliquot_id)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on only one key part.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14700" y="3722229"/>
            <a:ext cx="1881925" cy="152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request + aliquot → assigned_date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43613" y="2043671"/>
            <a:ext cx="247173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043613" y="2422289"/>
            <a:ext cx="2471738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Normal Form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43613" y="2848012"/>
            <a:ext cx="2471738" cy="94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Donor, sample-type, storage, researcher, specimen, and request facts are separated. Non-key attributes depend on their table’s key rather than on another non-key attribute.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43613" y="3912208"/>
            <a:ext cx="2471738" cy="31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sample_types → temperature
storage_locations → coordinates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85788" y="4380793"/>
            <a:ext cx="7929563" cy="5442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85788" y="4380793"/>
            <a:ext cx="7929563" cy="35719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585788" y="4380793"/>
            <a:ext cx="7929563" cy="544264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fewer update, insertion, and deletion anomalies because each business fact has </a:t>
            </a: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logical home</a:t>
            </a: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788" y="4768453"/>
            <a:ext cx="460185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DATA · FULL-KEY DEPENDENCY · SUBJECT-BASED SEPARATION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8631"/>
            <a:ext cx="4746352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Trigger, and Procedure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2530" y="478631"/>
            <a:ext cx="63568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1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85788" y="1143000"/>
            <a:ext cx="6715125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advanced objects turn normalized records into reusable operational summaries and enforce an aliquot-inventory rule at the database layer.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788" y="1618729"/>
            <a:ext cx="7972425" cy="742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5788" y="1618729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585788" y="1675879"/>
            <a:ext cx="30718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view_available_aliquots_detail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788" y="1907325"/>
            <a:ext cx="1505266" cy="200025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7"/>
          <p:cNvSpPr/>
          <p:nvPr/>
        </p:nvSpPr>
        <p:spPr>
          <a:xfrm>
            <a:off x="585788" y="1907325"/>
            <a:ext cx="1505266" cy="200025"/>
          </a:xfrm>
          <a:prstGeom prst="rect">
            <a:avLst/>
          </a:prstGeom>
          <a:noFill/>
          <a:ln/>
        </p:spPr>
        <p:txBody>
          <a:bodyPr wrap="square" lIns="76581" tIns="51054" rIns="76581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AVAILABILITY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000500" y="1675879"/>
            <a:ext cx="4429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aliquots, biospecimens, sample types, storage locations, donors, and consents. Returns aliquots that are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Storage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linked to donors with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788" y="2418829"/>
            <a:ext cx="7972425" cy="742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85788" y="2418829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585788" y="2475979"/>
            <a:ext cx="30718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view_researcher_request_summary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788" y="2707425"/>
            <a:ext cx="1357145" cy="200025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3"/>
          <p:cNvSpPr/>
          <p:nvPr/>
        </p:nvSpPr>
        <p:spPr>
          <a:xfrm>
            <a:off x="585788" y="2707425"/>
            <a:ext cx="1357145" cy="200025"/>
          </a:xfrm>
          <a:prstGeom prst="rect">
            <a:avLst/>
          </a:prstGeom>
          <a:noFill/>
          <a:ln/>
        </p:spPr>
        <p:txBody>
          <a:bodyPr wrap="square" lIns="76581" tIns="51054" rIns="76581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ANALYTICS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000500" y="2475979"/>
            <a:ext cx="4429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 LEFT JOIN and grouped counts to show each researcher’s total, approved, pending, and rejected test requests, including researchers with no requests.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788" y="3218929"/>
            <a:ext cx="7972425" cy="742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85788" y="3218929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7"/>
          <p:cNvSpPr/>
          <p:nvPr/>
        </p:nvSpPr>
        <p:spPr>
          <a:xfrm>
            <a:off x="585788" y="3276079"/>
            <a:ext cx="30718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trg_check_aliquot_volume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5788" y="3507525"/>
            <a:ext cx="1301502" cy="200025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Text 19"/>
          <p:cNvSpPr/>
          <p:nvPr/>
        </p:nvSpPr>
        <p:spPr>
          <a:xfrm>
            <a:off x="585788" y="3507525"/>
            <a:ext cx="1301502" cy="200025"/>
          </a:xfrm>
          <a:prstGeom prst="rect">
            <a:avLst/>
          </a:prstGeom>
          <a:noFill/>
          <a:ln/>
        </p:spPr>
        <p:txBody>
          <a:bodyPr wrap="square" lIns="76581" tIns="51054" rIns="76581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TRIGGER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000500" y="3276079"/>
            <a:ext cx="4429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an aliquot update. When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NEW.volume_ul &lt;= 0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 sets volume to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status to </a:t>
            </a: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</a:t>
            </a: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5788" y="4019029"/>
            <a:ext cx="7972425" cy="7429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85788" y="4019029"/>
            <a:ext cx="7972425" cy="35719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3"/>
          <p:cNvSpPr/>
          <p:nvPr/>
        </p:nvSpPr>
        <p:spPr>
          <a:xfrm>
            <a:off x="585788" y="4076179"/>
            <a:ext cx="30718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sp_GetDonorFullHistory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788" y="4307625"/>
            <a:ext cx="1210587" cy="200025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8" name="Text 25"/>
          <p:cNvSpPr/>
          <p:nvPr/>
        </p:nvSpPr>
        <p:spPr>
          <a:xfrm>
            <a:off x="585788" y="4307625"/>
            <a:ext cx="1210587" cy="200025"/>
          </a:xfrm>
          <a:prstGeom prst="rect">
            <a:avLst/>
          </a:prstGeom>
          <a:noFill/>
          <a:ln/>
        </p:spPr>
        <p:txBody>
          <a:bodyPr wrap="none" lIns="76581" tIns="51054" rIns="76581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RESULT SETS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000500" y="4076179"/>
            <a:ext cx="4429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a donor ID and returns donor/consent information first, followed by biospecimen, aliquot, sample-type, and freezer history.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5788" y="4879181"/>
            <a:ext cx="549823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SUMMARIES · DATABASE-ENFORCED INVENTORY RULE · DONOR TRACEABILITY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85775"/>
            <a:ext cx="4468025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Operations and Testing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922530" y="485775"/>
            <a:ext cx="63568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1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85788" y="1243013"/>
            <a:ext cx="6643688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script demonstrates the required SQL categories and the testing script confirms that views, the procedure, indexes, and the aliquot trigger behave as designed.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788" y="1897335"/>
            <a:ext cx="18752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5788" y="2218804"/>
            <a:ext cx="1875234" cy="167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and join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788" y="2436800"/>
            <a:ext cx="1875234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</a:t>
            </a:r>
            <a:r>
              <a:rPr lang="en-US" sz="8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Extract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aliquots in storage with donor and sample-type context.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618184" y="1897335"/>
            <a:ext cx="18752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618184" y="2218804"/>
            <a:ext cx="1875234" cy="167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18184" y="2436800"/>
            <a:ext cx="1875234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specimens by sample type and calculates total specimens and average initial volume.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50581" y="1897335"/>
            <a:ext cx="18752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50581" y="2218804"/>
            <a:ext cx="1875234" cy="167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query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50581" y="2436800"/>
            <a:ext cx="1875234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donors with </a:t>
            </a:r>
            <a:r>
              <a:rPr lang="en-US" sz="8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consent but no collected biospecimens.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82978" y="1897335"/>
            <a:ext cx="18752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82978" y="2218804"/>
            <a:ext cx="1875234" cy="167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data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82978" y="2436800"/>
            <a:ext cx="1875234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a storage location, UPDATEs request 3, and DELETEs an expired consent.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788" y="3076054"/>
            <a:ext cx="7972425" cy="135725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85788" y="3076054"/>
            <a:ext cx="7972425" cy="35719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585788" y="3161779"/>
            <a:ext cx="79724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2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SEQUENCE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5788" y="3393951"/>
            <a:ext cx="3622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5788" y="3561104"/>
            <a:ext cx="5576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43446" y="3561104"/>
            <a:ext cx="18654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view_available_aliquots_detail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5788" y="3728256"/>
            <a:ext cx="2503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6098" y="3728256"/>
            <a:ext cx="21873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view_researcher_request_summary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5788" y="3895409"/>
            <a:ext cx="21230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 filtered and grouped outputs.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5788" y="4105424"/>
            <a:ext cx="24621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view_researcher_request_summary;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05156" y="3393951"/>
            <a:ext cx="6360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05156" y="3561104"/>
            <a:ext cx="2572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562443" y="3561104"/>
            <a:ext cx="16432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sp_GetDonorFullHistory(1)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05673" y="3561104"/>
            <a:ext cx="2503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305156" y="3728256"/>
            <a:ext cx="23012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that two result sets are returned: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305156" y="3895409"/>
            <a:ext cx="23519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donor/consent data and specimen/aliquot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05156" y="4062561"/>
            <a:ext cx="40496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305156" y="4272576"/>
            <a:ext cx="194925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CALL sp_GetDonorFullHistory(1);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024525" y="3393951"/>
            <a:ext cx="12148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and indexes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024525" y="3561104"/>
            <a:ext cx="23445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aliquot 1 to volume 0 and confirm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24525" y="3728256"/>
            <a:ext cx="9362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becomes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960803" y="3728256"/>
            <a:ext cx="3144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275240" y="3728256"/>
            <a:ext cx="11432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use SHOW INDEX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24525" y="3895409"/>
            <a:ext cx="22657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 the three performance indexes.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024525" y="4105424"/>
            <a:ext cx="24621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UPDATE aliquots SET volume_ul=0 WHERE aliquot_id=1;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800100"/>
            <a:ext cx="6616731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Sequence and 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85788" y="1160134"/>
            <a:ext cx="6572250" cy="39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execution sequence demonstrates the database lifecycle and produces the evidence required for submission.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49474" y="485775"/>
            <a:ext cx="651588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250" dirty="0"/>
          </a:p>
        </p:txBody>
      </p:sp>
      <p:sp>
        <p:nvSpPr>
          <p:cNvPr id="6" name="Text 3"/>
          <p:cNvSpPr/>
          <p:nvPr/>
        </p:nvSpPr>
        <p:spPr>
          <a:xfrm>
            <a:off x="585788" y="1878750"/>
            <a:ext cx="148299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5788" y="2200219"/>
            <a:ext cx="14829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5788" y="2421675"/>
            <a:ext cx="132159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create_tables.sql</a:t>
            </a: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recreate BiobankDB, keys, constraints, and indexes.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97373" y="1878750"/>
            <a:ext cx="14830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197373" y="2200219"/>
            <a:ext cx="14830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97373" y="2421675"/>
            <a:ext cx="132159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load_data.sql</a:t>
            </a: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verify donors, specimens, aliquots, researchers, and requests.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09014" y="1878750"/>
            <a:ext cx="14830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09014" y="2200219"/>
            <a:ext cx="14830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09014" y="2421675"/>
            <a:ext cx="132159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both views: </a:t>
            </a: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aliquots</a:t>
            </a: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request summaries</a:t>
            </a: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20655" y="1878750"/>
            <a:ext cx="14830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20655" y="2200219"/>
            <a:ext cx="14830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20655" y="2421675"/>
            <a:ext cx="1321594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</a:t>
            </a: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sp_GetDonorFullHistory</a:t>
            </a: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update volume to show the trigger marks an aliquot Used.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032296" y="1878750"/>
            <a:ext cx="14830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32296" y="2200219"/>
            <a:ext cx="14830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32296" y="2421675"/>
            <a:ext cx="1321594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screenshots for setup, data, views, procedure, trigger, and INSERT/UPDATE/DELETE operations.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957513" y="3485983"/>
            <a:ext cx="5372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BiobankDB provides normalized donor-to-aliquot traceability with consent-aware views, controlled storage data, request assignments, and database-enforced inventory behavior.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788" y="4238867"/>
            <a:ext cx="7929563" cy="5554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85788" y="4238867"/>
            <a:ext cx="7929563" cy="28575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7"/>
          <p:cNvSpPr/>
          <p:nvPr/>
        </p:nvSpPr>
        <p:spPr>
          <a:xfrm>
            <a:off x="585788" y="4310304"/>
            <a:ext cx="1285875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7996E-A2C8-72A5-B38F-F2300C5B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4" y="475439"/>
            <a:ext cx="8875058" cy="4607549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4CBEDD7-ED9D-EC8C-285F-35F6B3E17026}"/>
              </a:ext>
            </a:extLst>
          </p:cNvPr>
          <p:cNvSpPr/>
          <p:nvPr/>
        </p:nvSpPr>
        <p:spPr>
          <a:xfrm>
            <a:off x="585788" y="165323"/>
            <a:ext cx="313932" cy="318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450" b="1" kern="0" spc="-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214182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1422</Words>
  <Application>Microsoft Office PowerPoint</Application>
  <PresentationFormat>On-screen Show (16:9)</PresentationFormat>
  <Paragraphs>180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Muhammad</cp:lastModifiedBy>
  <cp:revision>5</cp:revision>
  <dcterms:created xsi:type="dcterms:W3CDTF">2026-08-15T13:31:17Z</dcterms:created>
  <dcterms:modified xsi:type="dcterms:W3CDTF">2026-08-15T20:19:11Z</dcterms:modified>
</cp:coreProperties>
</file>